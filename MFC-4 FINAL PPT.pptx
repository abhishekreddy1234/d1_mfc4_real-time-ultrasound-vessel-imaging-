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1" r:id="rId9"/>
    <p:sldId id="269" r:id="rId10"/>
    <p:sldId id="262" r:id="rId11"/>
    <p:sldId id="264" r:id="rId12"/>
    <p:sldId id="265" r:id="rId13"/>
    <p:sldId id="268" r:id="rId14"/>
  </p:sldIdLst>
  <p:sldSz cx="14630400" cy="8229600"/>
  <p:notesSz cx="8229600" cy="14630400"/>
  <p:embeddedFontLst>
    <p:embeddedFont>
      <p:font typeface="Cambria Math" panose="02040503050406030204" pitchFamily="18" charset="0"/>
      <p:regular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Inter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79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787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583763"/>
            <a:ext cx="7323653" cy="91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200"/>
              </a:lnSpc>
              <a:buNone/>
            </a:pPr>
            <a:endParaRPr lang="en-US" sz="5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797010"/>
            <a:ext cx="11476434" cy="22554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2950" y="4275892"/>
            <a:ext cx="13144500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42950" y="4052411"/>
            <a:ext cx="13144500" cy="1761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                                                  </a:t>
            </a:r>
            <a:r>
              <a:rPr lang="en-US" sz="2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22MAT230-Mathematics for Computing 4             </a:t>
            </a:r>
          </a:p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SVD-based clutter filtering using randomized singular value decomposition and spatial down sampling for micro-vessel imaging on a Verasonics ultrasound system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42950" y="6037778"/>
            <a:ext cx="13144500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CB.SC.U4AIE24325-KALLURU ABHISHEK REDDY </a:t>
            </a:r>
            <a:endParaRPr lang="en-US" sz="1650" b="1" dirty="0"/>
          </a:p>
        </p:txBody>
      </p:sp>
      <p:sp>
        <p:nvSpPr>
          <p:cNvPr id="7" name="Text 4"/>
          <p:cNvSpPr/>
          <p:nvPr/>
        </p:nvSpPr>
        <p:spPr>
          <a:xfrm>
            <a:off x="742950" y="6589990"/>
            <a:ext cx="13144500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CB.SC.U4AIE24365-DASARI RISHIKESH</a:t>
            </a:r>
            <a:endParaRPr lang="en-US" sz="1650" b="1" dirty="0"/>
          </a:p>
        </p:txBody>
      </p:sp>
      <p:sp>
        <p:nvSpPr>
          <p:cNvPr id="8" name="Text 5"/>
          <p:cNvSpPr/>
          <p:nvPr/>
        </p:nvSpPr>
        <p:spPr>
          <a:xfrm>
            <a:off x="742950" y="7142202"/>
            <a:ext cx="13144500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CB.SC.U4AIE24341-P.MOKSHAGNA ARYAN</a:t>
            </a:r>
            <a:endParaRPr lang="en-US" sz="165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376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Introduction: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530906"/>
            <a:ext cx="13042821" cy="3016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Micro-vessel imaging requires ultrafast plane-wave ultrasound for high frame-rate Doppler ensembles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tissue clutter (high spatiotemporal coherence) overlaps with slow blood flow signals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Conventional high-pass filters fail due to spectral overlap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SVD-based clutter filtering is powerful (separates tissue by singular-value ranking)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 full SVD is computationally expensive → not real-time on Verasonics (e.g., &gt;5 s per frame)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solution: Randomized SVD (rSVD) + Randomized Spatial Downsampling (rSD)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on Vera sonics multi-core CPU using PICMUS pre-beamformed IQ data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8BF581-1268-026E-D5C0-FE532F315C3A}"/>
              </a:ext>
            </a:extLst>
          </p:cNvPr>
          <p:cNvSpPr txBox="1"/>
          <p:nvPr/>
        </p:nvSpPr>
        <p:spPr>
          <a:xfrm>
            <a:off x="947854" y="4546997"/>
            <a:ext cx="108612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Why Micro-vessel imaging?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Detect small blood vessels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Early tumor diagnosis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Micro-circulation monitoring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Functional ultrasound imaging</a:t>
            </a:r>
            <a:endParaRPr lang="en-I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82428"/>
            <a:ext cx="102003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Clutter Filtering Problem Formulation</a:t>
            </a:r>
            <a:endParaRPr lang="en-US" sz="44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1"/>
              <p:cNvSpPr/>
              <p:nvPr/>
            </p:nvSpPr>
            <p:spPr>
              <a:xfrm>
                <a:off x="793790" y="3444835"/>
                <a:ext cx="13042821" cy="360273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42900" indent="-342900" algn="l">
                  <a:lnSpc>
                    <a:spcPts val="2850"/>
                  </a:lnSpc>
                  <a:buSzPct val="100000"/>
                  <a:buChar char="•"/>
                </a:pPr>
                <a:r>
                  <a:rPr lang="en-US" sz="2400" dirty="0">
                    <a:solidFill>
                      <a:srgbClr val="272525"/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Forward model: Ultrasound data reshaped as spatio-temporal matrix </a:t>
                </a:r>
                <a:r>
                  <a:rPr lang="en-US" sz="2400" b="1" dirty="0">
                    <a:solidFill>
                      <a:srgbClr val="272525"/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S = T (tissue clutter) + B (blood flow) + N (noise)</a:t>
                </a:r>
                <a:endParaRPr lang="en-US" sz="2400" dirty="0"/>
              </a:p>
              <a:p>
                <a:pPr marL="342900" indent="-342900" algn="l">
                  <a:lnSpc>
                    <a:spcPts val="2850"/>
                  </a:lnSpc>
                  <a:buSzPct val="100000"/>
                  <a:buChar char="•"/>
                </a:pPr>
                <a:r>
                  <a:rPr lang="en-US" sz="2400" dirty="0">
                    <a:solidFill>
                      <a:srgbClr val="272525"/>
                    </a:solidFill>
                    <a:highlight>
                      <a:srgbClr val="F2F2F2"/>
                    </a:highlight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S ∈ ℂ(mn × nt)</a:t>
                </a:r>
                <a:r>
                  <a:rPr lang="en-US" sz="2400" dirty="0">
                    <a:solidFill>
                      <a:srgbClr val="272525"/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 (m×n spatial pixels, nt ensembles)</a:t>
                </a:r>
                <a:endParaRPr lang="en-US" sz="2400" dirty="0"/>
              </a:p>
              <a:p>
                <a:pPr marL="342900" indent="-342900" algn="l">
                  <a:lnSpc>
                    <a:spcPts val="2850"/>
                  </a:lnSpc>
                  <a:buSzPct val="100000"/>
                  <a:buChar char="•"/>
                </a:pPr>
                <a:r>
                  <a:rPr lang="en-US" sz="2400" dirty="0">
                    <a:solidFill>
                      <a:srgbClr val="272525"/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Tissue clutter dominates low-rank subspace (high singular values)</a:t>
                </a:r>
              </a:p>
              <a:p>
                <a:pPr marL="342900" indent="-342900">
                  <a:lnSpc>
                    <a:spcPts val="2850"/>
                  </a:lnSpc>
                  <a:buSzPct val="100000"/>
                  <a:buChar char="•"/>
                </a:pPr>
                <a14:m>
                  <m:oMath xmlns:m="http://schemas.openxmlformats.org/officeDocument/2006/math"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ts val="2850"/>
                  </a:lnSpc>
                  <a:buSzPct val="100000"/>
                  <a:buChar char="•"/>
                </a:pPr>
                <a:r>
                  <a:rPr lang="en-US" sz="2400" dirty="0"/>
                  <a:t>S → measured signal</a:t>
                </a:r>
                <a:br>
                  <a:rPr lang="en-US" sz="2400" dirty="0"/>
                </a:br>
                <a:r>
                  <a:rPr lang="en-US" sz="2400" dirty="0"/>
                  <a:t>T → tissue clutter</a:t>
                </a:r>
                <a:br>
                  <a:rPr lang="en-US" sz="2400" dirty="0"/>
                </a:br>
                <a:r>
                  <a:rPr lang="en-US" sz="2400" dirty="0"/>
                  <a:t>B → blood signal</a:t>
                </a:r>
                <a:br>
                  <a:rPr lang="en-US" sz="2400" dirty="0"/>
                </a:br>
                <a:r>
                  <a:rPr lang="en-US" sz="2400" dirty="0"/>
                  <a:t>N → noise</a:t>
                </a:r>
                <a14:m/>
              </a:p>
            </p:txBody>
          </p:sp>
        </mc:Choice>
        <mc:Fallback>
          <p:sp>
            <p:nvSpPr>
              <p:cNvPr id="3" name="Text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90" y="3444835"/>
                <a:ext cx="13042821" cy="3602736"/>
              </a:xfrm>
              <a:prstGeom prst="rect">
                <a:avLst/>
              </a:prstGeom>
              <a:blipFill>
                <a:blip r:embed="rId3"/>
                <a:stretch>
                  <a:fillRect l="-1449" t="-3046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8938"/>
            <a:ext cx="8520708" cy="814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SVD clutter filtering:</a:t>
            </a:r>
            <a:endParaRPr lang="en-US" sz="44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1"/>
              <p:cNvSpPr/>
              <p:nvPr/>
            </p:nvSpPr>
            <p:spPr>
              <a:xfrm>
                <a:off x="793790" y="2241396"/>
                <a:ext cx="13042821" cy="59882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42900" indent="-342900">
                  <a:lnSpc>
                    <a:spcPts val="2850"/>
                  </a:lnSpc>
                  <a:buSzPct val="100000"/>
                  <a:buChar char="•"/>
                </a:pPr>
                <a:r>
                  <a:rPr lang="en-IN" sz="2400" dirty="0"/>
                  <a:t>Singular value decomposition:</a:t>
                </a:r>
              </a:p>
              <a:p>
                <a:pPr marL="342900" indent="-342900">
                  <a:lnSpc>
                    <a:spcPts val="2850"/>
                  </a:lnSpc>
                  <a:buSzPct val="100000"/>
                  <a:buChar char="•"/>
                </a:pPr>
                <a14:m>
                  <m:oMath xmlns:m="http://schemas.openxmlformats.org/officeDocument/2006/math"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l-GR" sz="2400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𝑉𝐻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r>
                  <a:rPr lang="en-IN" sz="2400" dirty="0"/>
                  <a:t>Observation:</a:t>
                </a:r>
              </a:p>
              <a:p>
                <a:r>
                  <a:rPr lang="en-IN" sz="2400" dirty="0"/>
                  <a:t>Large singular values → tissue</a:t>
                </a:r>
                <a:br>
                  <a:rPr lang="en-IN" sz="2400" dirty="0"/>
                </a:br>
                <a:r>
                  <a:rPr lang="en-IN" sz="2400" dirty="0"/>
                  <a:t>Medium singular values → blood</a:t>
                </a:r>
                <a:br>
                  <a:rPr lang="en-IN" sz="2400" dirty="0"/>
                </a:br>
                <a:r>
                  <a:rPr lang="en-IN" sz="2400" dirty="0"/>
                  <a:t>Small singular values → noise</a:t>
                </a:r>
              </a:p>
              <a:p>
                <a:r>
                  <a:rPr lang="en-US" sz="2400" dirty="0"/>
                  <a:t>Clutter removal:</a:t>
                </a:r>
              </a:p>
              <a:p>
                <a:r>
                  <a:rPr lang="en-US" sz="2400" dirty="0"/>
                  <a:t>Remove first </a:t>
                </a:r>
                <a:r>
                  <a:rPr lang="en-US" sz="2400" b="1" dirty="0"/>
                  <a:t>k singular value</a:t>
                </a:r>
              </a:p>
              <a:p>
                <a:r>
                  <a:rPr lang="en-US" sz="2400" b="1" dirty="0"/>
                  <a:t>COMPUTATION PROBLEM:</a:t>
                </a:r>
              </a:p>
              <a:p>
                <a:r>
                  <a:rPr lang="en-IN" sz="2400" dirty="0"/>
                  <a:t>SVD is Too Slow</a:t>
                </a:r>
              </a:p>
              <a:p>
                <a:r>
                  <a:rPr lang="en-IN" sz="2400" dirty="0"/>
                  <a:t>Full SVD complexity: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𝑂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𝑛</m:t>
                              </m:r>
                            </m:e>
                            <m:sub>
                              <m:r>
                                <a:rPr lang="ar-AE" i="1"/>
                                <m:t>𝑧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𝑛</m:t>
                              </m:r>
                            </m:e>
                            <m:sub>
                              <m:r>
                                <a:rPr lang="ar-AE" i="1"/>
                                <m:t>𝑥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ar-AE" i="1"/>
                              </m:ctrlPr>
                            </m:sSubSupPr>
                            <m:e>
                              <m:r>
                                <a:rPr lang="ar-AE" i="1"/>
                                <m:t>𝑛</m:t>
                              </m:r>
                            </m:e>
                            <m:sub>
                              <m:r>
                                <a:rPr lang="ar-AE" i="1"/>
                                <m:t>𝑡</m:t>
                              </m:r>
                            </m:sub>
                            <m:sup>
                              <m:r>
                                <a:rPr lang="ar-AE"/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ar-AE" sz="2400" dirty="0"/>
              </a:p>
              <a:p>
                <a:r>
                  <a:rPr lang="en-US" sz="2400" dirty="0"/>
                  <a:t>Example from the paper:</a:t>
                </a:r>
              </a:p>
              <a:p>
                <a:r>
                  <a:rPr lang="en-IN" sz="2400" dirty="0"/>
                  <a:t>Image size = 90 × 90</a:t>
                </a:r>
                <a:br>
                  <a:rPr lang="en-IN" sz="2400" dirty="0"/>
                </a:br>
                <a:r>
                  <a:rPr lang="en-IN" sz="2400" dirty="0"/>
                  <a:t>Ensemble size = 64,</a:t>
                </a:r>
                <a:r>
                  <a:rPr lang="en-US" sz="2400" dirty="0"/>
                  <a:t> Processing time:</a:t>
                </a:r>
              </a:p>
              <a:p>
                <a:r>
                  <a:rPr lang="en-US" sz="2400" b="1" dirty="0"/>
                  <a:t>≈ 5.1 seconds per frame,</a:t>
                </a:r>
                <a:r>
                  <a:rPr lang="en-US" sz="2400" dirty="0"/>
                  <a:t> Real-time imaging requires </a:t>
                </a:r>
                <a:r>
                  <a:rPr lang="en-US" sz="2400" b="1" dirty="0"/>
                  <a:t>20 frames/sec</a:t>
                </a:r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pPr marL="342900" indent="-342900">
                  <a:lnSpc>
                    <a:spcPts val="2850"/>
                  </a:lnSpc>
                  <a:buSzPct val="100000"/>
                  <a:buChar char="•"/>
                </a:pPr>
                <a14:m/>
              </a:p>
            </p:txBody>
          </p:sp>
        </mc:Choice>
        <mc:Fallback>
          <p:sp>
            <p:nvSpPr>
              <p:cNvPr id="3" name="Text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90" y="2241396"/>
                <a:ext cx="13042821" cy="5988204"/>
              </a:xfrm>
              <a:prstGeom prst="rect">
                <a:avLst/>
              </a:prstGeom>
              <a:blipFill>
                <a:blip r:embed="rId3"/>
                <a:stretch>
                  <a:fillRect l="-1449" t="-1935" b="-16802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7922"/>
            <a:ext cx="8640366" cy="780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PROPOSED SOLUTION: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8237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40042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/>
              <p:cNvSpPr/>
              <p:nvPr/>
            </p:nvSpPr>
            <p:spPr>
              <a:xfrm>
                <a:off x="793790" y="1619963"/>
                <a:ext cx="13042821" cy="625279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42900" indent="-342900">
                  <a:lnSpc>
                    <a:spcPts val="2850"/>
                  </a:lnSpc>
                  <a:buSzPct val="100000"/>
                  <a:buChar char="•"/>
                </a:pPr>
                <a:r>
                  <a:rPr lang="en-IN" sz="2400" b="1" dirty="0"/>
                  <a:t>Randomized SVD (</a:t>
                </a:r>
                <a:r>
                  <a:rPr lang="en-IN" sz="2400" b="1" dirty="0" err="1"/>
                  <a:t>rSVD</a:t>
                </a:r>
                <a:r>
                  <a:rPr lang="en-IN" sz="2400" b="1" dirty="0"/>
                  <a:t>)</a:t>
                </a:r>
              </a:p>
              <a:p>
                <a:pPr marL="342900" indent="-342900">
                  <a:lnSpc>
                    <a:spcPts val="2850"/>
                  </a:lnSpc>
                  <a:buSzPct val="100000"/>
                  <a:buChar char="•"/>
                </a:pPr>
                <a:r>
                  <a:rPr lang="en-IN" sz="2400" b="1" dirty="0"/>
                  <a:t>Randomized Spatial </a:t>
                </a:r>
                <a:r>
                  <a:rPr lang="en-IN" sz="2400" b="1" dirty="0" err="1"/>
                  <a:t>Downsampling</a:t>
                </a:r>
                <a:r>
                  <a:rPr lang="en-IN" sz="2400" b="1" dirty="0"/>
                  <a:t> (</a:t>
                </a:r>
                <a:r>
                  <a:rPr lang="en-IN" sz="2400" b="1" dirty="0" err="1"/>
                  <a:t>rSD</a:t>
                </a:r>
                <a:r>
                  <a:rPr lang="en-IN" sz="2400" b="1" dirty="0"/>
                  <a:t>)</a:t>
                </a:r>
              </a:p>
              <a:p>
                <a:r>
                  <a:rPr lang="en-US" sz="2400" dirty="0"/>
                  <a:t>Benefits:</a:t>
                </a:r>
              </a:p>
              <a:p>
                <a:r>
                  <a:rPr lang="en-US" sz="2400" dirty="0"/>
                  <a:t>• Reduced computation</a:t>
                </a:r>
                <a:br>
                  <a:rPr lang="en-US" sz="2400" dirty="0"/>
                </a:br>
                <a:r>
                  <a:rPr lang="en-US" sz="2400" dirty="0"/>
                  <a:t>• Parallel processing</a:t>
                </a:r>
                <a:br>
                  <a:rPr lang="en-US" sz="2400" dirty="0"/>
                </a:br>
                <a:r>
                  <a:rPr lang="en-US" sz="2400" dirty="0"/>
                  <a:t>• Real-time imaging</a:t>
                </a:r>
              </a:p>
              <a:p>
                <a:r>
                  <a:rPr lang="en-IN" sz="2800" b="1" dirty="0"/>
                  <a:t>Randomized SVD Algorithm:</a:t>
                </a:r>
                <a:endParaRPr lang="en-US" sz="2800" b="1" dirty="0"/>
              </a:p>
              <a:p>
                <a:r>
                  <a:rPr lang="en-IN" sz="2400" dirty="0"/>
                  <a:t>1 Construct </a:t>
                </a:r>
                <a:r>
                  <a:rPr lang="en-IN" sz="2400" dirty="0" err="1"/>
                  <a:t>spatio</a:t>
                </a:r>
                <a:r>
                  <a:rPr lang="en-IN" sz="2400" dirty="0"/>
                  <a:t>-temporal matrix</a:t>
                </a:r>
                <a:br>
                  <a:rPr lang="en-IN" sz="2400" dirty="0"/>
                </a:br>
                <a:r>
                  <a:rPr lang="en-IN" sz="2400" dirty="0"/>
                  <a:t>2 Random projection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400"/>
                          </m:ctrlPr>
                        </m:sSupPr>
                        <m:e>
                          <m:r>
                            <a:rPr lang="ar-AE" sz="2400" i="1"/>
                            <m:t>𝑆</m:t>
                          </m:r>
                        </m:e>
                        <m:sup>
                          <m:r>
                            <a:rPr lang="ar-AE" sz="2400"/>
                            <m:t>′</m:t>
                          </m:r>
                        </m:sup>
                      </m:sSup>
                      <m:r>
                        <a:rPr lang="ar-AE" sz="2400"/>
                        <m:t>=</m:t>
                      </m:r>
                      <m:r>
                        <a:rPr lang="ar-AE" sz="2400" i="1"/>
                        <m:t>𝑆𝑅</m:t>
                      </m:r>
                    </m:oMath>
                  </m:oMathPara>
                </a14:m>
                <a:endParaRPr lang="ar-AE" sz="2400" dirty="0"/>
              </a:p>
              <a:p>
                <a:r>
                  <a:rPr lang="ar-AE" sz="2400" dirty="0"/>
                  <a:t>3 </a:t>
                </a:r>
                <a:r>
                  <a:rPr lang="en-IN" sz="2400" dirty="0"/>
                  <a:t>QR decomposition</a:t>
                </a:r>
                <a:br>
                  <a:rPr lang="en-IN" sz="2400" dirty="0"/>
                </a:br>
                <a:r>
                  <a:rPr lang="en-IN" sz="2400" dirty="0"/>
                  <a:t>4 Estimate tissue signal</a:t>
                </a:r>
                <a:br>
                  <a:rPr lang="en-IN" sz="2400" dirty="0"/>
                </a:br>
                <a:r>
                  <a:rPr lang="en-IN" sz="2400" dirty="0"/>
                  <a:t>5 Extract blood signal</a:t>
                </a:r>
              </a:p>
              <a:p>
                <a:pPr marL="342900" indent="-342900">
                  <a:lnSpc>
                    <a:spcPts val="2850"/>
                  </a:lnSpc>
                  <a:buSzPct val="100000"/>
                  <a:buChar char="•"/>
                </a:pPr>
                <a:endParaRPr lang="en-US" sz="1750" dirty="0"/>
              </a:p>
            </p:txBody>
          </p:sp>
        </mc:Choice>
        <mc:Fallback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90" y="1619963"/>
                <a:ext cx="13042821" cy="6252797"/>
              </a:xfrm>
              <a:prstGeom prst="rect">
                <a:avLst/>
              </a:prstGeom>
              <a:blipFill>
                <a:blip r:embed="rId3"/>
                <a:stretch>
                  <a:fillRect l="-1636" t="-1854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4"/>
          <p:cNvSpPr/>
          <p:nvPr/>
        </p:nvSpPr>
        <p:spPr>
          <a:xfrm>
            <a:off x="793790" y="62467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2284704-581E-A814-B172-B0BBC9C22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4616" y="0"/>
            <a:ext cx="4279598" cy="393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DE5424FC-67C7-5FAD-66A6-B83F1CA5A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0337" y="2967385"/>
            <a:ext cx="4279598" cy="490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6FAACDDC-6B5C-53A8-7EBF-29DBAB14E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040" y="1933636"/>
            <a:ext cx="2898038" cy="452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GPR Clutter Reflection Noise-Filtering through Singular Value Decomposition  in the Bidimensional Spectral Domain">
            <a:extLst>
              <a:ext uri="{FF2B5EF4-FFF2-40B4-BE49-F238E27FC236}">
                <a16:creationId xmlns:a16="http://schemas.microsoft.com/office/drawing/2014/main" id="{4E6850CF-31B7-22DD-8331-E4EA303FD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322" y="0"/>
            <a:ext cx="6788492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6274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CE999A-37E5-C835-5F4A-2762EDD3816A}"/>
              </a:ext>
            </a:extLst>
          </p:cNvPr>
          <p:cNvSpPr txBox="1"/>
          <p:nvPr/>
        </p:nvSpPr>
        <p:spPr>
          <a:xfrm>
            <a:off x="790430" y="563672"/>
            <a:ext cx="111927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RANDOMISED DOWNSAMPLING:</a:t>
            </a:r>
          </a:p>
          <a:p>
            <a:r>
              <a:rPr lang="en-US" sz="2400" dirty="0"/>
              <a:t>Divide ROI into smaller blocks</a:t>
            </a:r>
            <a:br>
              <a:rPr lang="en-US" sz="2400" dirty="0"/>
            </a:br>
            <a:r>
              <a:rPr lang="en-US" sz="2400" dirty="0"/>
              <a:t>• Each block processed independently</a:t>
            </a:r>
            <a:br>
              <a:rPr lang="en-US" sz="2400" dirty="0"/>
            </a:br>
            <a:r>
              <a:rPr lang="en-US" sz="2400" dirty="0"/>
              <a:t>• Parallel execution on </a:t>
            </a:r>
            <a:r>
              <a:rPr lang="en-US" sz="2400" b="1" dirty="0"/>
              <a:t>multi-core CPU</a:t>
            </a:r>
          </a:p>
          <a:p>
            <a:endParaRPr lang="en-IN" sz="2400" b="1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9567917-E777-95BD-2DC1-ED002E6E4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85" y="2502664"/>
            <a:ext cx="2983553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B61D126A-463E-C2A7-6DAA-9972B6F78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2963" y="2502664"/>
            <a:ext cx="2900372" cy="337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4601EFB0-3C75-BBFC-1CED-40C2389EC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075" y="2352675"/>
            <a:ext cx="6247315" cy="352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5105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203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Algorithm Steps: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84440"/>
            <a:ext cx="13042821" cy="393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84440"/>
            <a:ext cx="13042821" cy="3932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2864763"/>
            <a:ext cx="13042821" cy="4342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Acquire plane-wave IQ data (PICMUS contrast/speckle or resolution datasets)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Beamform with DAS (use PICMUS /code/image_reconstruction_das) → get IQ buffer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Reshape into spatio-temporal matrix S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rSD: Randomly distribute pixels into parallel sub-matrices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each block: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Project: S' = S_i × R (random Gaussian matrix)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QR decomposition → approximate tissue subspace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Blood = S_i – T_i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Reassemble full image + noise debiasing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Power Doppler image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7FD4601-5A22-AD00-9253-66B6A47DDD0E}"/>
                  </a:ext>
                </a:extLst>
              </p:cNvPr>
              <p:cNvSpPr txBox="1"/>
              <p:nvPr/>
            </p:nvSpPr>
            <p:spPr>
              <a:xfrm>
                <a:off x="1307939" y="983848"/>
                <a:ext cx="8611565" cy="4548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800" b="1" dirty="0"/>
                  <a:t>Performance Metrics:</a:t>
                </a:r>
              </a:p>
              <a:p>
                <a:r>
                  <a:rPr lang="en-IN" sz="2400" dirty="0"/>
                  <a:t>Three evaluation metrics:</a:t>
                </a:r>
              </a:p>
              <a:p>
                <a:r>
                  <a:rPr lang="en-IN" sz="2400" dirty="0"/>
                  <a:t>Blood-to-Clutter Ratio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/>
                        <m:t>𝐵𝐶𝑅</m:t>
                      </m:r>
                      <m:r>
                        <a:rPr lang="en-IN" sz="2400"/>
                        <m:t>=</m:t>
                      </m:r>
                      <m:r>
                        <a:rPr lang="en-IN" sz="2400"/>
                        <m:t>10</m:t>
                      </m:r>
                      <m:sSub>
                        <m:sSubPr>
                          <m:ctrlPr>
                            <a:rPr lang="ar-AE" sz="2400" i="1"/>
                          </m:ctrlPr>
                        </m:sSubPr>
                        <m:e>
                          <m:func>
                            <m:funcPr>
                              <m:ctrlPr>
                                <a:rPr lang="ar-AE" sz="2400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2400"/>
                                <m:t>log</m:t>
                              </m:r>
                            </m:fName>
                            <m:e/>
                          </m:func>
                        </m:e>
                        <m:sub>
                          <m:r>
                            <a:rPr lang="ar-AE" sz="2400"/>
                            <m:t>10</m:t>
                          </m:r>
                        </m:sub>
                      </m:sSub>
                      <m:f>
                        <m:fPr>
                          <m:ctrlPr>
                            <a:rPr lang="ar-AE" sz="2400" i="1"/>
                          </m:ctrlPr>
                        </m:fPr>
                        <m:num>
                          <m:sSub>
                            <m:sSubPr>
                              <m:ctrlPr>
                                <a:rPr lang="ar-AE" sz="2400" i="1"/>
                              </m:ctrlPr>
                            </m:sSubPr>
                            <m:e>
                              <m:r>
                                <a:rPr lang="ar-AE" sz="2400" i="1"/>
                                <m:t>𝐵</m:t>
                              </m:r>
                            </m:e>
                            <m:sub>
                              <m:r>
                                <a:rPr lang="ar-AE" sz="2400" i="1"/>
                                <m:t>𝑚𝑒𝑎𝑛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ar-AE" sz="2400" i="1"/>
                              </m:ctrlPr>
                            </m:sSubPr>
                            <m:e>
                              <m:r>
                                <a:rPr lang="ar-AE" sz="2400" i="1"/>
                                <m:t>𝑇</m:t>
                              </m:r>
                            </m:e>
                            <m:sub>
                              <m:r>
                                <a:rPr lang="ar-AE" sz="2400" i="1"/>
                                <m:t>𝑚𝑒𝑎𝑛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sz="2400" dirty="0"/>
              </a:p>
              <a:p>
                <a:r>
                  <a:rPr lang="en-IN" sz="2400" dirty="0"/>
                  <a:t>Peak-to-Side Level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/>
                        <m:t>𝑃𝑆𝐿</m:t>
                      </m:r>
                      <m:r>
                        <a:rPr lang="en-IN" sz="2400"/>
                        <m:t>=</m:t>
                      </m:r>
                      <m:r>
                        <a:rPr lang="en-IN" sz="2400"/>
                        <m:t>10</m:t>
                      </m:r>
                      <m:sSub>
                        <m:sSubPr>
                          <m:ctrlPr>
                            <a:rPr lang="ar-AE" sz="2400" i="1"/>
                          </m:ctrlPr>
                        </m:sSubPr>
                        <m:e>
                          <m:func>
                            <m:funcPr>
                              <m:ctrlPr>
                                <a:rPr lang="ar-AE" sz="2400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2400"/>
                                <m:t>log</m:t>
                              </m:r>
                            </m:fName>
                            <m:e/>
                          </m:func>
                        </m:e>
                        <m:sub>
                          <m:r>
                            <a:rPr lang="ar-AE" sz="2400"/>
                            <m:t>10</m:t>
                          </m:r>
                        </m:sub>
                      </m:sSub>
                      <m:f>
                        <m:fPr>
                          <m:ctrlPr>
                            <a:rPr lang="ar-AE" sz="2400" i="1"/>
                          </m:ctrlPr>
                        </m:fPr>
                        <m:num>
                          <m:sSub>
                            <m:sSubPr>
                              <m:ctrlPr>
                                <a:rPr lang="ar-AE" sz="2400" i="1"/>
                              </m:ctrlPr>
                            </m:sSubPr>
                            <m:e>
                              <m:r>
                                <a:rPr lang="ar-AE" sz="2400" i="1"/>
                                <m:t>𝐵</m:t>
                              </m:r>
                            </m:e>
                            <m:sub>
                              <m:r>
                                <a:rPr lang="ar-AE" sz="2400" i="1"/>
                                <m:t>𝑝𝑒𝑎𝑘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ar-AE" sz="2400" i="1"/>
                              </m:ctrlPr>
                            </m:sSubPr>
                            <m:e>
                              <m:r>
                                <a:rPr lang="ar-AE" sz="2400" i="1"/>
                                <m:t>𝑇</m:t>
                              </m:r>
                            </m:e>
                            <m:sub>
                              <m:r>
                                <a:rPr lang="ar-AE" sz="2400" i="1"/>
                                <m:t>𝑚𝑒𝑎𝑛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sz="2400" dirty="0"/>
              </a:p>
              <a:p>
                <a:r>
                  <a:rPr lang="en-IN" sz="2400" dirty="0"/>
                  <a:t>Signal-to-Noise Ratio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/>
                        <m:t>𝑆𝑁𝑅</m:t>
                      </m:r>
                      <m:r>
                        <a:rPr lang="en-IN" sz="2400"/>
                        <m:t>=</m:t>
                      </m:r>
                      <m:r>
                        <a:rPr lang="en-IN" sz="2400"/>
                        <m:t>10</m:t>
                      </m:r>
                      <m:sSub>
                        <m:sSubPr>
                          <m:ctrlPr>
                            <a:rPr lang="ar-AE" sz="2400" i="1"/>
                          </m:ctrlPr>
                        </m:sSubPr>
                        <m:e>
                          <m:func>
                            <m:funcPr>
                              <m:ctrlPr>
                                <a:rPr lang="ar-AE" sz="2400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2400"/>
                                <m:t>log</m:t>
                              </m:r>
                            </m:fName>
                            <m:e/>
                          </m:func>
                        </m:e>
                        <m:sub>
                          <m:r>
                            <a:rPr lang="ar-AE" sz="2400"/>
                            <m:t>10</m:t>
                          </m:r>
                        </m:sub>
                      </m:sSub>
                      <m:f>
                        <m:fPr>
                          <m:ctrlPr>
                            <a:rPr lang="ar-AE" sz="2400" i="1"/>
                          </m:ctrlPr>
                        </m:fPr>
                        <m:num>
                          <m:sSub>
                            <m:sSubPr>
                              <m:ctrlPr>
                                <a:rPr lang="ar-AE" sz="2400" i="1"/>
                              </m:ctrlPr>
                            </m:sSubPr>
                            <m:e>
                              <m:r>
                                <a:rPr lang="ar-AE" sz="2400" i="1"/>
                                <m:t>𝐵</m:t>
                              </m:r>
                            </m:e>
                            <m:sub>
                              <m:r>
                                <a:rPr lang="ar-AE" sz="2400" i="1"/>
                                <m:t>𝑚𝑒𝑎𝑛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ar-AE" sz="2400" i="1"/>
                              </m:ctrlPr>
                            </m:sSubPr>
                            <m:e>
                              <m:r>
                                <a:rPr lang="ar-AE" sz="2400" i="1"/>
                                <m:t>𝑁</m:t>
                              </m:r>
                            </m:e>
                            <m:sub>
                              <m:r>
                                <a:rPr lang="ar-AE" sz="2400" i="1"/>
                                <m:t>𝑚𝑒𝑎𝑛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sz="2400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7FD4601-5A22-AD00-9253-66B6A47DD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939" y="983848"/>
                <a:ext cx="8611565" cy="4548553"/>
              </a:xfrm>
              <a:prstGeom prst="rect">
                <a:avLst/>
              </a:prstGeom>
              <a:blipFill>
                <a:blip r:embed="rId2"/>
                <a:stretch>
                  <a:fillRect l="-1487" t="-12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275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150989"/>
            <a:ext cx="13042821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6" name="AutoShape 2" descr="Generated image">
            <a:extLst>
              <a:ext uri="{FF2B5EF4-FFF2-40B4-BE49-F238E27FC236}">
                <a16:creationId xmlns:a16="http://schemas.microsoft.com/office/drawing/2014/main" id="{AE137CE1-517C-9222-B9DA-624C1A9EFA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F10E9B-A66D-6925-2A7C-01826AA89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89" y="1458409"/>
            <a:ext cx="12344400" cy="62850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CD4073-A892-41AE-7A9B-1773B590594A}"/>
              </a:ext>
            </a:extLst>
          </p:cNvPr>
          <p:cNvSpPr txBox="1"/>
          <p:nvPr/>
        </p:nvSpPr>
        <p:spPr>
          <a:xfrm>
            <a:off x="671332" y="277792"/>
            <a:ext cx="108223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SYSTEM ARCHITECTURE:</a:t>
            </a:r>
            <a:endParaRPr lang="en-IN" sz="32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34822" y="502325"/>
            <a:ext cx="4261128" cy="532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</a:t>
            </a:r>
            <a:endParaRPr lang="en-US" sz="3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2" y="1371005"/>
            <a:ext cx="4132161" cy="58291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08902" y="1342192"/>
            <a:ext cx="5794177" cy="238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408902" y="1696283"/>
            <a:ext cx="5794177" cy="238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434822" y="7488317"/>
            <a:ext cx="11760756" cy="238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300" dirty="0"/>
          </a:p>
        </p:txBody>
      </p:sp>
      <p:pic>
        <p:nvPicPr>
          <p:cNvPr id="6146" name="Picture 2" descr="Real time SVD-based clutter filtering using randomized singular value  decomposition and spatial downsampling for micro-vessel imaging on a  Verasonics ultrasound system - ScienceDirect">
            <a:extLst>
              <a:ext uri="{FF2B5EF4-FFF2-40B4-BE49-F238E27FC236}">
                <a16:creationId xmlns:a16="http://schemas.microsoft.com/office/drawing/2014/main" id="{65279DAB-F012-23D3-7C3F-DEBBEFAC0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7686" y="1461611"/>
            <a:ext cx="4034139" cy="521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Real time SVD-based clutter filtering using randomized singular value  decomposition and spatial downsampling for micro-vessel imaging on a  Verasonics ultrasound system - ScienceDirect">
            <a:extLst>
              <a:ext uri="{FF2B5EF4-FFF2-40B4-BE49-F238E27FC236}">
                <a16:creationId xmlns:a16="http://schemas.microsoft.com/office/drawing/2014/main" id="{D0938EAE-9DA0-D436-6B82-F68E9F29B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8702" y="2862263"/>
            <a:ext cx="4318598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pic>
        <p:nvPicPr>
          <p:cNvPr id="7170" name="Picture 2" descr="Enhanced SVD filter based on singular vector subspace denoising ...">
            <a:extLst>
              <a:ext uri="{FF2B5EF4-FFF2-40B4-BE49-F238E27FC236}">
                <a16:creationId xmlns:a16="http://schemas.microsoft.com/office/drawing/2014/main" id="{7B98E30B-B270-F0DC-79BF-2F1EA72B6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0775"/>
            <a:ext cx="14630400" cy="598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6EBB49-98AB-3A42-4370-AB4D5E95F4C0}"/>
              </a:ext>
            </a:extLst>
          </p:cNvPr>
          <p:cNvSpPr txBox="1"/>
          <p:nvPr/>
        </p:nvSpPr>
        <p:spPr>
          <a:xfrm>
            <a:off x="671332" y="1064871"/>
            <a:ext cx="1325301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CONCLUSION:</a:t>
            </a:r>
          </a:p>
          <a:p>
            <a:endParaRPr lang="en-US" sz="3200" b="1" dirty="0"/>
          </a:p>
          <a:p>
            <a:r>
              <a:rPr lang="en-IN" sz="2800" dirty="0"/>
              <a:t>Randomized SVD + Spatial </a:t>
            </a:r>
            <a:r>
              <a:rPr lang="en-IN" sz="2800" dirty="0" err="1"/>
              <a:t>Downsampling</a:t>
            </a:r>
            <a:endParaRPr lang="en-IN" sz="2800" dirty="0"/>
          </a:p>
          <a:p>
            <a:r>
              <a:rPr lang="en-IN" sz="2800" dirty="0"/>
              <a:t>Achievements:</a:t>
            </a:r>
          </a:p>
          <a:p>
            <a:r>
              <a:rPr lang="en-US" sz="2800" dirty="0"/>
              <a:t>Real-time ultrasound imaging</a:t>
            </a:r>
            <a:br>
              <a:rPr lang="en-US" sz="2800" dirty="0"/>
            </a:br>
            <a:r>
              <a:rPr lang="en-US" sz="2800" dirty="0"/>
              <a:t>• High clutter suppression</a:t>
            </a:r>
            <a:br>
              <a:rPr lang="en-US" sz="2800" dirty="0"/>
            </a:br>
            <a:r>
              <a:rPr lang="en-US" sz="2800" dirty="0"/>
              <a:t>• Reduced computational cost</a:t>
            </a:r>
          </a:p>
          <a:p>
            <a:r>
              <a:rPr lang="en-US" sz="2800" dirty="0"/>
              <a:t>Future work:</a:t>
            </a:r>
          </a:p>
          <a:p>
            <a:r>
              <a:rPr lang="en-US" sz="2800" dirty="0"/>
              <a:t>• GPU acceleration</a:t>
            </a:r>
            <a:br>
              <a:rPr lang="en-US" sz="2800" dirty="0"/>
            </a:br>
            <a:r>
              <a:rPr lang="en-US" sz="2800" dirty="0"/>
              <a:t>• 3D micro-vascular imaging</a:t>
            </a:r>
          </a:p>
          <a:p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162190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572</Words>
  <Application>Microsoft Office PowerPoint</Application>
  <PresentationFormat>Custom</PresentationFormat>
  <Paragraphs>87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Cambria Math</vt:lpstr>
      <vt:lpstr>Inter Bold</vt:lpstr>
      <vt:lpstr>Inter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Rishi</dc:creator>
  <cp:lastModifiedBy>dasaririshi987@outlook.com</cp:lastModifiedBy>
  <cp:revision>3</cp:revision>
  <dcterms:created xsi:type="dcterms:W3CDTF">2026-03-04T00:29:02Z</dcterms:created>
  <dcterms:modified xsi:type="dcterms:W3CDTF">2026-03-04T02:35:15Z</dcterms:modified>
</cp:coreProperties>
</file>